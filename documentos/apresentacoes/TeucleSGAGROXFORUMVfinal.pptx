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1" r:id="rId6"/>
    <p:sldId id="265" r:id="rId7"/>
    <p:sldId id="263" r:id="rId8"/>
    <p:sldId id="268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260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01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314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24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04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75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34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91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81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29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69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02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80C48-9BFF-4952-9ECA-51AD2C35F31D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8F819-BCA4-4974-92F5-FD280EDE5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82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94" y="346509"/>
            <a:ext cx="11328934" cy="6670308"/>
          </a:xfrm>
        </p:spPr>
      </p:pic>
    </p:spTree>
    <p:extLst>
      <p:ext uri="{BB962C8B-B14F-4D97-AF65-F5344CB8AC3E}">
        <p14:creationId xmlns:p14="http://schemas.microsoft.com/office/powerpoint/2010/main" val="370056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346509" y="259882"/>
            <a:ext cx="11704319" cy="635267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pt-BR" sz="5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ECOINOVAÇÃO NO AGRONEGÓCIO: </a:t>
            </a:r>
            <a:br>
              <a:rPr lang="pt-BR" sz="5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b="1" u="sng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54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SEGURANÇA HÍDRICA E ENERGÉTICA PARA UM FUTURO SUSTENTÁVEL </a:t>
            </a:r>
            <a:br>
              <a:rPr lang="pt-BR" sz="5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5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5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Prof</a:t>
            </a:r>
            <a:r>
              <a:rPr lang="pt-BR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 Dr. TEUCLE MANNARELLI FILHO</a:t>
            </a:r>
            <a:br>
              <a:rPr lang="pt-BR" sz="5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9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6791"/>
          </a:xfrm>
        </p:spPr>
        <p:txBody>
          <a:bodyPr>
            <a:normAutofit/>
          </a:bodyPr>
          <a:lstStyle/>
          <a:p>
            <a:r>
              <a:rPr lang="pt-BR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 QUE E´ ECOINOVAÇÃO</a:t>
            </a:r>
            <a:endParaRPr lang="pt-B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3511" y="1491916"/>
            <a:ext cx="11559941" cy="5082139"/>
          </a:xfrm>
        </p:spPr>
        <p:txBody>
          <a:bodyPr>
            <a:normAutofit lnSpcReduction="10000"/>
          </a:bodyPr>
          <a:lstStyle/>
          <a:p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 ECOINOVAÇÃO REFERE-SE À IMPLEMENTAÇÃO DE PRÁTICAS INOVADORAS QUE VISAM MELHORAR A SUSTENTABILIDADE AMBIENTAL E A EFICIÊNCIA DOS PROCESSOS PRODUTIVOS.</a:t>
            </a:r>
          </a:p>
          <a:p>
            <a:pPr marL="0" indent="0">
              <a:buNone/>
            </a:pP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NO CONTEXTO DO AGRONEGÓCIO, ISSO ENVOLVE O USO DE TECNOLOGIAS E MÉTODOS QUE REDUZEM O IMPACTO AMBIENTAL, PROMOVEM A CONSERVAÇÃO DE RECURSOS NATURAIS E AUMENTAM A PRODUTIVIDADE</a:t>
            </a:r>
          </a:p>
          <a:p>
            <a:pPr marL="0" indent="0">
              <a:buNone/>
            </a:pP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DISRUPTIVA X INCREMENTAL</a:t>
            </a:r>
          </a:p>
          <a:p>
            <a:endParaRPr lang="pt-BR" dirty="0" smtClean="0"/>
          </a:p>
          <a:p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230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8759" y="191870"/>
            <a:ext cx="10058399" cy="1386673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pt-BR" sz="5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IMPORTÂNCIA DA ECOINOVAÇÃO NO AGRONEGÓCIO</a:t>
            </a:r>
            <a:endParaRPr lang="pt-BR" sz="5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1432" y="1809549"/>
            <a:ext cx="11742021" cy="4918510"/>
          </a:xfrm>
        </p:spPr>
        <p:txBody>
          <a:bodyPr>
            <a:noAutofit/>
          </a:bodyPr>
          <a:lstStyle/>
          <a:p>
            <a:pPr lvl="0"/>
            <a:r>
              <a:rPr lang="pt-BR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SUSTENTABILIDADE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: A ECOINOVAÇÃO AJUDA A MINIMIZAR OS IMPACTOS NEGATIVOS DA AGRICULTURA NO MEIO AMBIENTE, COMO A DEGRADAÇÃO DO SOLO E A POLUIÇÃO DA ÁGUA.</a:t>
            </a:r>
          </a:p>
          <a:p>
            <a:pPr lvl="0"/>
            <a:r>
              <a:rPr lang="pt-BR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EFICIÊNCIA DE RECURSOS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: MELHORA A UTILIZAÇÃO DE INSUMOS, COMO ÁGUA E FERTILIZANTES, REDUZINDO DESPERDÍCIOS E CUSTOS.</a:t>
            </a:r>
          </a:p>
          <a:p>
            <a:pPr lvl="0"/>
            <a:r>
              <a:rPr lang="pt-BR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COMPETITIVIDADE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: EMPRESAS QUE ADOTAM PRÁTICAS SUSTENTÁVEIS PODEM SE DESTACAR NO MERCADO, ATRAINDO CONSUMIDORES QUE VALORIZAM A RESPONSABILIDADE AMBIENTAL.</a:t>
            </a:r>
          </a:p>
          <a:p>
            <a:pPr lvl="0"/>
            <a:r>
              <a:rPr lang="pt-BR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REGULAMENTAÇÃO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: COM O AUMENTO DAS NORMAS AMBIENTAIS, A ECOINOVAÇÃO PODE AJUDAR OS PRODUTORES A SE ADEQUAREM ÀS LEGISLAÇÕES VIGENTES.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900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2644" y="96253"/>
            <a:ext cx="9577137" cy="808522"/>
          </a:xfrm>
        </p:spPr>
        <p:txBody>
          <a:bodyPr>
            <a:noAutofit/>
          </a:bodyPr>
          <a:lstStyle/>
          <a:p>
            <a:pPr algn="ctr"/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APLICAÇÕES NO AGRONEGÓCIO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4637" y="991403"/>
            <a:ext cx="11473312" cy="5794408"/>
          </a:xfrm>
        </p:spPr>
        <p:txBody>
          <a:bodyPr>
            <a:noAutofit/>
          </a:bodyPr>
          <a:lstStyle/>
          <a:p>
            <a:pPr lvl="0"/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AGRICULTURA</a:t>
            </a:r>
            <a:r>
              <a:rPr lang="pt-B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 PRECISÃO</a:t>
            </a: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USO DE DRONES, SENSORES E INTELIGÊNCIA ARTIFICIAL PARA MONITORAR LAVOURAS, REDUZINDO O DESPERDÍCIO DE ÁGUA, FERTILIZANTES E DEFENSIVOS AGRÍCOLAS.</a:t>
            </a:r>
          </a:p>
          <a:p>
            <a:pPr lvl="1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ANÁLISE DE DADOS PARA TOMAR DECISÕES MAIS ASSERTIVAS, AUMENTANDO A PRODUTIVIDADE COM MENOR IMPACTO AMBIENTAL.</a:t>
            </a:r>
          </a:p>
          <a:p>
            <a:pPr lvl="0"/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BIOINSUMOS</a:t>
            </a:r>
            <a:r>
              <a:rPr lang="pt-B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E CONTROLE BIOLÓGICO</a:t>
            </a: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SUBSTITUIÇÃO DE AGROQUÍMICOS POR BIOFERTILIZANTES E MICRORGANISMOS QUE MELHORAM A SAÚDE DO SOLO E COMBATEM PRAGAS NATURALMENTE.</a:t>
            </a:r>
          </a:p>
          <a:p>
            <a:pPr lvl="1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REDUÇÃO DA DEPENDÊNCIA DE PRODUTOS SINTÉTICOS, DIMINUINDO A CONTAMINAÇÃO DE RIOS E AQUÍFEROS.</a:t>
            </a:r>
          </a:p>
          <a:p>
            <a:pPr lvl="0"/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ENERGIAS RENOVÁVEIS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INTEGRAÇÃO DE ENERGIA SOLAR, BIOGÁS (A PARTIR DE RESÍDUOS ORGÂNICOS) E EÓLICA NAS PROPRIEDADES RURAIS, REDUZINDO CUSTOS E EMISSÕES DE CARBONO.</a:t>
            </a:r>
          </a:p>
          <a:p>
            <a:pPr lvl="1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SISTEMAS DE IRRIGAÇÃO MOVIDOS A ENERGIA LIMPA, TORNANDO A PRODUÇÃO MAIS AUTOSSUSTENTÁVEL.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9628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6135" y="365125"/>
            <a:ext cx="10997665" cy="1325563"/>
          </a:xfrm>
        </p:spPr>
        <p:txBody>
          <a:bodyPr>
            <a:noAutofit/>
          </a:bodyPr>
          <a:lstStyle/>
          <a:p>
            <a:pPr algn="ctr"/>
            <a:r>
              <a:rPr lang="pt-BR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PRINCIPAIS APLICAÇÕES NO AGRONEGÓCIO</a:t>
            </a:r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9882" y="1825625"/>
            <a:ext cx="11762072" cy="4960186"/>
          </a:xfrm>
        </p:spPr>
        <p:txBody>
          <a:bodyPr>
            <a:normAutofit/>
          </a:bodyPr>
          <a:lstStyle/>
          <a:p>
            <a:pPr lvl="0"/>
            <a:r>
              <a:rPr lang="pt-B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ECONOMIA CIRCULAR</a:t>
            </a: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REUTILIZAÇÃO DE RESÍDUOS AGRÍCOLAS (COMO PALHA E BAGAÇO) PARA PRODUÇÃO DE BIOPLÁSTICOS, RAÇÃO ANIMAL OU COMPOSTAGEM.</a:t>
            </a:r>
          </a:p>
          <a:p>
            <a:pPr lvl="1"/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SISTEMAS INTEGRADOS, COMO LAVOURA-PECUÁRIA-FLORESTA (ILPF), QUE DIVERSIFICAM A PRODUÇÃO E REGENERAM O SOLO.</a:t>
            </a:r>
          </a:p>
          <a:p>
            <a:pPr lvl="0"/>
            <a:r>
              <a:rPr lang="pt-B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CERTIFICAÇÕES E MERCADOS SUSTENTÁVEIS</a:t>
            </a: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VALORIZAÇÃO DE PRODUTOS COM SELOS VERDES (ORGÂNICOS, CARBONO NEUTRO, FAIR TRADE), ATENDENDO À DEMANDA DE CONSUMIDORES CONSCIENTES.</a:t>
            </a:r>
          </a:p>
          <a:p>
            <a:pPr lvl="1"/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ACESSO A MERCADOS INTERNACIONAIS QUE EXIGEM PRÁTICAS AMBIENTAIS E SOCIAIS RESPONSÁVEIS.</a:t>
            </a:r>
          </a:p>
          <a:p>
            <a:endParaRPr lang="pt-BR" dirty="0"/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130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2505" y="124493"/>
            <a:ext cx="10289406" cy="1325563"/>
          </a:xfrm>
        </p:spPr>
        <p:txBody>
          <a:bodyPr>
            <a:noAutofit/>
          </a:bodyPr>
          <a:lstStyle/>
          <a:p>
            <a:pPr algn="ctr"/>
            <a:r>
              <a:rPr lang="pt-BR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EXEMPLOS DE ECOINOVAÇÃO NO AGRONEGÓCIO</a:t>
            </a:r>
            <a:endParaRPr lang="pt-B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5759" y="1434164"/>
            <a:ext cx="11434813" cy="5423836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AGRICULTURA DE PRECISÃO</a:t>
            </a:r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 USO DE TECNOLOGIAS, COMO DRONES E SENSORES, PARA MONITORAR AS CONDIÇÕES DAS CULTURAS E APLICAR INSUMOS DE FORMA MAIS EFICIENTE.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endParaRPr lang="pt-BR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CULTIVO DE PLANTAS RESILIENTES</a:t>
            </a:r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 DESENVOLVIMENTO DE VARIEDADES DE PLANTAS QUE RESISTEM A PRAGAS E DOENÇAS, REDUZINDO A NECESSIDADE DE PESTICIDAS.</a:t>
            </a:r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38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2505" y="124493"/>
            <a:ext cx="10289406" cy="1325563"/>
          </a:xfrm>
        </p:spPr>
        <p:txBody>
          <a:bodyPr>
            <a:noAutofit/>
          </a:bodyPr>
          <a:lstStyle/>
          <a:p>
            <a:pPr algn="ctr"/>
            <a:r>
              <a:rPr lang="pt-BR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EXEMPLOS DE ECOINOVAÇÃO NO AGRONEGÓCIO</a:t>
            </a:r>
            <a:endParaRPr lang="pt-B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5759" y="1825624"/>
            <a:ext cx="11826241" cy="5032376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ROTAÇÃO DE CULTURAS</a:t>
            </a:r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 PRÁTICA QUE MELHORA A SAÚDE DO SOLO E REDUZ A INCIDÊNCIA DE PRAGAS, CONTRIBUINDO PARA UMA PRODUÇÃO MAIS SUSTENTÁVEL.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PLANTIO DIRETO: </a:t>
            </a:r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SEM MOVIMENTAÇÃO DO SOLO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endParaRPr lang="pt-BR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BIOCOMBUSTÍVEIS</a:t>
            </a:r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 PRODUÇÃO DE ENERGIA A PARTIR DE RESÍDUOS AGRÍCOLAS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342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05243"/>
            <a:ext cx="10510788" cy="963161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DESAFIOS DA ECOINOVAÇÃO</a:t>
            </a:r>
            <a:endParaRPr lang="pt-BR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4636" y="1193533"/>
            <a:ext cx="11357810" cy="5399772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pt-BR" sz="3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CUSTO INICIAL</a:t>
            </a:r>
            <a:r>
              <a:rPr lang="pt-BR" sz="3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A IMPLEMENTAÇÃO DE NOVAS TECNOLOGIAS PODE REQUERER ALTO INVESTIMENTO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pt-BR" sz="3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VIABILIDADE ECONÔMICA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pt-BR" sz="3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ESCALA DE PRODUÇÃO</a:t>
            </a:r>
            <a:endParaRPr lang="pt-BR" sz="3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pt-BR" sz="3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CAPACITAÇÃO</a:t>
            </a:r>
            <a:r>
              <a:rPr lang="pt-BR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: NECESSÁRIO CAPACITAR OS PRODUTORES E TODA CADEIA PRODUTIVA, PARA O USO ADEQUADO DAS NOVAS TECNOLOGIAS E PRÁTICAS.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lang="pt-BR" sz="3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ACESSO A INFORMAÇÕES</a:t>
            </a:r>
            <a:r>
              <a:rPr lang="pt-BR" sz="3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DIFICULDADE EM ACESSAR INFORMAÇÕES SOBRE ECOINOVAÇÃO E SUAS VANTAGENS</a:t>
            </a:r>
            <a:endParaRPr lang="pt-B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49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5320" y="134118"/>
            <a:ext cx="10515600" cy="761031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pt-BR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REFLEXÕES</a:t>
            </a:r>
            <a:endParaRPr lang="pt-B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5385" y="972152"/>
            <a:ext cx="11713946" cy="5736656"/>
          </a:xfrm>
        </p:spPr>
        <p:txBody>
          <a:bodyPr>
            <a:noAutofit/>
          </a:bodyPr>
          <a:lstStyle/>
          <a:p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CONCEITOS DE </a:t>
            </a: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SCHUMPETER</a:t>
            </a:r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 DESTRUIÇÃO CRIATIVA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MUDANÇAS E VELOCIDADE DAS MUDANÇAS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CONCEITOS ECONÔMICOS FINANCEIROS: LUCRO, ESCALA PRODUÇAO, ETC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IMPORTÃNCIA DOS ORGÃOS DE PESQUISA: UNIVERSIDADES, EMBRAPA, ETC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5169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5320" y="134119"/>
            <a:ext cx="10515600" cy="102091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pt-BR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REFLEXÕES</a:t>
            </a:r>
            <a:endParaRPr lang="pt-B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2013" y="1232034"/>
            <a:ext cx="11627318" cy="53997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IMPORTÂNCIA DE INVESTIR EM SUSTENTABILIDADE,  TECNOLOGIAS VERDES E PRÁTICAS REGENERATIVAS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</a:pPr>
            <a:endParaRPr lang="pt-BR" sz="3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POLÍTICAS PÚBLICAS, MARCOS REGULATÓRIOS, INCENTIVOS FISCAIS E PARCERIAS COM SETOR PRIVADO, ACADEMIA E AGRICULTORES; QUE SÃO FUNDAMENTAIS PARA ACELERAR ESSA TRANSIÇÃO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3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PROTAGONISMO DO BRASIL NESTE PROCESSO.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785" y="131078"/>
            <a:ext cx="1634223" cy="9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4227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597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Apresentação do PowerPoint</vt:lpstr>
      <vt:lpstr>ECOINOVAÇÃO NO AGRONEGÓCIO:   SEGURANÇA HÍDRICA E ENERGÉTICA PARA UM FUTURO SUSTENTÁVEL    Prof Dr. TEUCLE MANNARELLI FILHO  </vt:lpstr>
      <vt:lpstr>O QUE E´ ECOINOVAÇÃO</vt:lpstr>
      <vt:lpstr>IMPORTÂNCIA DA ECOINOVAÇÃO NO AGRONEGÓCIO</vt:lpstr>
      <vt:lpstr>APLICAÇÕES NO AGRONEGÓCIO</vt:lpstr>
      <vt:lpstr>PRINCIPAIS APLICAÇÕES NO AGRONEGÓCIO</vt:lpstr>
      <vt:lpstr>EXEMPLOS DE ECOINOVAÇÃO NO AGRONEGÓCIO</vt:lpstr>
      <vt:lpstr>EXEMPLOS DE ECOINOVAÇÃO NO AGRONEGÓCIO</vt:lpstr>
      <vt:lpstr>DESAFIOS DA ECOINOVAÇÃO</vt:lpstr>
      <vt:lpstr>REFLEXÕES</vt:lpstr>
      <vt:lpstr>REFLEXÕES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15</cp:revision>
  <dcterms:created xsi:type="dcterms:W3CDTF">2025-04-26T12:33:35Z</dcterms:created>
  <dcterms:modified xsi:type="dcterms:W3CDTF">2025-06-05T21:21:21Z</dcterms:modified>
</cp:coreProperties>
</file>